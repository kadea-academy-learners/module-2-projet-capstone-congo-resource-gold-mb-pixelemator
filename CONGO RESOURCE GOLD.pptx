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9" r:id="rId5"/>
    <p:sldId id="262" r:id="rId6"/>
    <p:sldId id="263" r:id="rId7"/>
    <p:sldId id="268" r:id="rId8"/>
    <p:sldId id="266" r:id="rId9"/>
    <p:sldId id="267"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DE6"/>
    <a:srgbClr val="2A5038"/>
    <a:srgbClr val="0F17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0" d="100"/>
          <a:sy n="40" d="100"/>
        </p:scale>
        <p:origin x="44" y="5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3D78AE-C8BB-9A63-595D-2D6B1332C5A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812EB5DC-399A-7E6D-557B-06563F97EB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F6D42C35-71E0-FB40-4651-196F6288B229}"/>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5" name="Espace réservé du pied de page 4">
            <a:extLst>
              <a:ext uri="{FF2B5EF4-FFF2-40B4-BE49-F238E27FC236}">
                <a16:creationId xmlns:a16="http://schemas.microsoft.com/office/drawing/2014/main" id="{2F04B4C4-273C-F743-6383-EA9EC7A99ED0}"/>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D68EF502-2F9D-FBF1-CE3E-CC40335A815C}"/>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3943533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76F589-B0F4-A5B1-45FA-B83F1D0C002A}"/>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6BD1A178-B3F5-31B4-48CA-2757AC8592F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C99EA8C7-0A3F-8188-9E98-A14703B148B3}"/>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5" name="Espace réservé du pied de page 4">
            <a:extLst>
              <a:ext uri="{FF2B5EF4-FFF2-40B4-BE49-F238E27FC236}">
                <a16:creationId xmlns:a16="http://schemas.microsoft.com/office/drawing/2014/main" id="{A76246EB-9EE1-14EB-CD2A-DABC0D5A807F}"/>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B84A9B75-E8D8-6E3E-9259-1862E0E73928}"/>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3366662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8D96C5-BB3C-1F37-092F-506265DCEF5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4F666E8D-5ADD-672B-4658-FC83BB1C17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A1DA832-B94A-3F78-D8FA-11197B8F2D1E}"/>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5" name="Espace réservé du pied de page 4">
            <a:extLst>
              <a:ext uri="{FF2B5EF4-FFF2-40B4-BE49-F238E27FC236}">
                <a16:creationId xmlns:a16="http://schemas.microsoft.com/office/drawing/2014/main" id="{0FECE638-22ED-C76B-F735-5F02F662E774}"/>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F55B2FDB-F99D-CF69-7180-9E3FA38DC015}"/>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3815887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DA1A63-94E6-1278-210B-F5AACA7C2478}"/>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3A0B9E4A-CDB5-F44F-2E10-580BC7FFA0A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F0F4B853-82E5-C2CE-DA15-5B20A474DFF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CD107641-CB50-67F8-1E27-3F66E00EA2C9}"/>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6" name="Espace réservé du pied de page 5">
            <a:extLst>
              <a:ext uri="{FF2B5EF4-FFF2-40B4-BE49-F238E27FC236}">
                <a16:creationId xmlns:a16="http://schemas.microsoft.com/office/drawing/2014/main" id="{ED8C8A60-EDE5-6F16-9DD4-34010DECE323}"/>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3EF1E8BB-45BB-A653-C2AA-8AA7701DAD74}"/>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835824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6CEE0D-BD31-BFA2-F66F-EEE3EBF4BDD2}"/>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87ED38DC-4EB2-693F-3287-F60C81722C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6037B85-4FBF-6E78-F009-F2FC4F8E558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E362795B-9CBB-B076-1196-49510B4FF1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B505CB2-D471-E618-0C1B-CBF788FA58D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3B9C5D7D-E2BE-D1F0-3707-7D5B246839F4}"/>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8" name="Espace réservé du pied de page 7">
            <a:extLst>
              <a:ext uri="{FF2B5EF4-FFF2-40B4-BE49-F238E27FC236}">
                <a16:creationId xmlns:a16="http://schemas.microsoft.com/office/drawing/2014/main" id="{21EBC3F2-A326-06DF-7AA8-889467100B92}"/>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75C08EE6-F9DF-4D2D-D913-A32A6E22919B}"/>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2724098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C0A338-A5CE-E0FE-8838-6405523E99A2}"/>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9D06B441-7554-F612-B50B-4B3A4FE7D791}"/>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4" name="Espace réservé du pied de page 3">
            <a:extLst>
              <a:ext uri="{FF2B5EF4-FFF2-40B4-BE49-F238E27FC236}">
                <a16:creationId xmlns:a16="http://schemas.microsoft.com/office/drawing/2014/main" id="{AB27242F-2AD2-83F8-DF04-8637FEECF0D7}"/>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9BBFE12F-C23F-C848-7FA2-73FD365D2DBE}"/>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3793865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222C5A1-EBC1-9DB0-2D6D-A34BAE9BD316}"/>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3" name="Espace réservé du pied de page 2">
            <a:extLst>
              <a:ext uri="{FF2B5EF4-FFF2-40B4-BE49-F238E27FC236}">
                <a16:creationId xmlns:a16="http://schemas.microsoft.com/office/drawing/2014/main" id="{57C39B57-6EB2-E3E3-7A7C-AC1E8D8B1441}"/>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AA584C13-D8F8-BEDF-EBAE-32E92033DC5E}"/>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4278299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8CBF14-364C-673E-71CA-ED370CAAC58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0B6653D3-EB87-A8F5-5E49-82D1145FA3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3D052ADD-D410-2F04-CDF5-C324670EA2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AA58C6E-FBD4-5220-C174-A5AB15FBA42A}"/>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6" name="Espace réservé du pied de page 5">
            <a:extLst>
              <a:ext uri="{FF2B5EF4-FFF2-40B4-BE49-F238E27FC236}">
                <a16:creationId xmlns:a16="http://schemas.microsoft.com/office/drawing/2014/main" id="{3C4C36A3-E6DA-A30D-D942-F27CF831FD18}"/>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9F70C9A4-A201-C46B-4F78-B254CFC48AB5}"/>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2166089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8B4CF3-366E-E10D-D0A1-21B840ED8C5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513BD8B2-BE54-DB3E-40D6-6B3B36219B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D22FF2EC-8D05-5B21-03D3-7539A50B6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9D06A45-1565-3123-8ED8-E90A09C7509F}"/>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6" name="Espace réservé du pied de page 5">
            <a:extLst>
              <a:ext uri="{FF2B5EF4-FFF2-40B4-BE49-F238E27FC236}">
                <a16:creationId xmlns:a16="http://schemas.microsoft.com/office/drawing/2014/main" id="{30A97E14-5368-5052-A13C-ED81CE37311A}"/>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97CEA552-36DB-54E1-E599-8EAE842806CF}"/>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1664758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E2CD58-6AF9-919A-F275-DA62B6F5B5F1}"/>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263DF7C1-1D0C-9C56-92E7-3AA214031CB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AF48140B-7923-E373-F93B-EF8E33C5BDC9}"/>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5" name="Espace réservé du pied de page 4">
            <a:extLst>
              <a:ext uri="{FF2B5EF4-FFF2-40B4-BE49-F238E27FC236}">
                <a16:creationId xmlns:a16="http://schemas.microsoft.com/office/drawing/2014/main" id="{93771B41-9896-0F03-AEEA-16C96DEAB393}"/>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A89DFEA8-3321-80B8-93B3-38AAF6189C0C}"/>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3737434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A65C551-8543-3873-8BC8-EB3795C9167C}"/>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EC321303-9D53-D338-7F97-FCA91D178D9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01D9E7AF-5023-BD2A-53DA-B6BD05A47410}"/>
              </a:ext>
            </a:extLst>
          </p:cNvPr>
          <p:cNvSpPr>
            <a:spLocks noGrp="1"/>
          </p:cNvSpPr>
          <p:nvPr>
            <p:ph type="dt" sz="half" idx="10"/>
          </p:nvPr>
        </p:nvSpPr>
        <p:spPr/>
        <p:txBody>
          <a:bodyPr/>
          <a:lstStyle/>
          <a:p>
            <a:fld id="{1B092B45-54A1-4E9E-8102-1CA7EFF5C838}" type="datetimeFigureOut">
              <a:rPr lang="en-US" smtClean="0"/>
              <a:t>6/8/2026</a:t>
            </a:fld>
            <a:endParaRPr lang="en-US"/>
          </a:p>
        </p:txBody>
      </p:sp>
      <p:sp>
        <p:nvSpPr>
          <p:cNvPr id="5" name="Espace réservé du pied de page 4">
            <a:extLst>
              <a:ext uri="{FF2B5EF4-FFF2-40B4-BE49-F238E27FC236}">
                <a16:creationId xmlns:a16="http://schemas.microsoft.com/office/drawing/2014/main" id="{BF2C1EC2-6036-5229-7C95-C4167134E589}"/>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B7A6217B-3884-2A66-F453-AB1B0A9640E1}"/>
              </a:ext>
            </a:extLst>
          </p:cNvPr>
          <p:cNvSpPr>
            <a:spLocks noGrp="1"/>
          </p:cNvSpPr>
          <p:nvPr>
            <p:ph type="sldNum" sz="quarter" idx="12"/>
          </p:nvPr>
        </p:nvSpPr>
        <p:spPr/>
        <p:txBody>
          <a:bodyPr/>
          <a:lstStyle/>
          <a:p>
            <a:fld id="{93512803-8699-4F47-A1F5-1A6B391FEA99}" type="slidenum">
              <a:rPr lang="en-US" smtClean="0"/>
              <a:t>‹N°›</a:t>
            </a:fld>
            <a:endParaRPr lang="en-US"/>
          </a:p>
        </p:txBody>
      </p:sp>
    </p:spTree>
    <p:extLst>
      <p:ext uri="{BB962C8B-B14F-4D97-AF65-F5344CB8AC3E}">
        <p14:creationId xmlns:p14="http://schemas.microsoft.com/office/powerpoint/2010/main" val="1215701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6CCCBFB-10C2-E9F7-C1AC-81E7AD6719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6FCB35A2-DD82-A573-1708-BD708A38BE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F16BA386-4B9E-8FE7-334B-33E8CECF82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092B45-54A1-4E9E-8102-1CA7EFF5C838}" type="datetimeFigureOut">
              <a:rPr lang="en-US" smtClean="0"/>
              <a:t>6/8/2026</a:t>
            </a:fld>
            <a:endParaRPr lang="en-US"/>
          </a:p>
        </p:txBody>
      </p:sp>
      <p:sp>
        <p:nvSpPr>
          <p:cNvPr id="5" name="Espace réservé du pied de page 4">
            <a:extLst>
              <a:ext uri="{FF2B5EF4-FFF2-40B4-BE49-F238E27FC236}">
                <a16:creationId xmlns:a16="http://schemas.microsoft.com/office/drawing/2014/main" id="{BE042203-838F-8BCB-010D-2A6FE5FDB4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8F29A2EA-F72E-9BA1-B44C-C8E8570390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512803-8699-4F47-A1F5-1A6B391FEA99}" type="slidenum">
              <a:rPr lang="en-US" smtClean="0"/>
              <a:t>‹N°›</a:t>
            </a:fld>
            <a:endParaRPr lang="en-US"/>
          </a:p>
        </p:txBody>
      </p:sp>
    </p:spTree>
    <p:extLst>
      <p:ext uri="{BB962C8B-B14F-4D97-AF65-F5344CB8AC3E}">
        <p14:creationId xmlns:p14="http://schemas.microsoft.com/office/powerpoint/2010/main" val="4107559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magnific.com/free-photo/dump-truck-pit-mine_29506167.htm#fromView=search&amp;page=1&amp;position=0&amp;uuid=9111cbda-c7b7-48db-9b79-b5aee6696679&amp;query=min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magnific.com/icon/quote_4511530#fromView=search&amp;page=1&amp;position=13&amp;uuid=0e549f1e-3853-4e89-85f2-d5959b741ca1"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C53BD6-4C2D-49E5-520E-DD181812C798}"/>
              </a:ext>
            </a:extLst>
          </p:cNvPr>
          <p:cNvSpPr>
            <a:spLocks noGrp="1"/>
          </p:cNvSpPr>
          <p:nvPr>
            <p:ph type="ctrTitle"/>
          </p:nvPr>
        </p:nvSpPr>
        <p:spPr/>
        <p:txBody>
          <a:bodyPr/>
          <a:lstStyle/>
          <a:p>
            <a:r>
              <a:rPr lang="fr-FR" b="1" dirty="0">
                <a:solidFill>
                  <a:srgbClr val="FFC000"/>
                </a:solidFill>
                <a:latin typeface="Bodoni MT" panose="02070603080606020203" pitchFamily="18" charset="0"/>
              </a:rPr>
              <a:t>CONGO RESOURCE GOLD</a:t>
            </a:r>
            <a:endParaRPr lang="en-US" b="1" dirty="0">
              <a:solidFill>
                <a:srgbClr val="FFC000"/>
              </a:solidFill>
              <a:latin typeface="Bodoni MT" panose="02070603080606020203" pitchFamily="18" charset="0"/>
            </a:endParaRPr>
          </a:p>
        </p:txBody>
      </p:sp>
      <p:sp>
        <p:nvSpPr>
          <p:cNvPr id="3" name="Sous-titre 2">
            <a:extLst>
              <a:ext uri="{FF2B5EF4-FFF2-40B4-BE49-F238E27FC236}">
                <a16:creationId xmlns:a16="http://schemas.microsoft.com/office/drawing/2014/main" id="{608A520C-2A62-7D05-66CD-C1B0D1A0DC41}"/>
              </a:ext>
            </a:extLst>
          </p:cNvPr>
          <p:cNvSpPr>
            <a:spLocks noGrp="1"/>
          </p:cNvSpPr>
          <p:nvPr>
            <p:ph type="subTitle" idx="1"/>
          </p:nvPr>
        </p:nvSpPr>
        <p:spPr>
          <a:xfrm>
            <a:off x="1676400" y="4686255"/>
            <a:ext cx="9144000" cy="538888"/>
          </a:xfrm>
        </p:spPr>
        <p:txBody>
          <a:bodyPr/>
          <a:lstStyle/>
          <a:p>
            <a:r>
              <a:rPr lang="fr-FR" dirty="0">
                <a:solidFill>
                  <a:schemeClr val="bg1">
                    <a:lumMod val="65000"/>
                  </a:schemeClr>
                </a:solidFill>
              </a:rPr>
              <a:t>Présenté par Dan Ilunga, Data Analyste junior</a:t>
            </a:r>
            <a:endParaRPr lang="en-US" dirty="0">
              <a:solidFill>
                <a:schemeClr val="bg1">
                  <a:lumMod val="65000"/>
                </a:schemeClr>
              </a:solidFill>
            </a:endParaRPr>
          </a:p>
        </p:txBody>
      </p:sp>
      <p:sp>
        <p:nvSpPr>
          <p:cNvPr id="4" name="Sous-titre 2">
            <a:extLst>
              <a:ext uri="{FF2B5EF4-FFF2-40B4-BE49-F238E27FC236}">
                <a16:creationId xmlns:a16="http://schemas.microsoft.com/office/drawing/2014/main" id="{4C7A6873-89A9-4379-B597-D5639CE8DD05}"/>
              </a:ext>
            </a:extLst>
          </p:cNvPr>
          <p:cNvSpPr txBox="1">
            <a:spLocks/>
          </p:cNvSpPr>
          <p:nvPr/>
        </p:nvSpPr>
        <p:spPr>
          <a:xfrm>
            <a:off x="1676400" y="3754438"/>
            <a:ext cx="9144000" cy="5388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dirty="0">
                <a:solidFill>
                  <a:srgbClr val="FFC000"/>
                </a:solidFill>
              </a:rPr>
              <a:t>RAPPORT DE PERFORMANCE OPERATIONNELLE</a:t>
            </a:r>
            <a:endParaRPr lang="en-US" b="1" dirty="0">
              <a:solidFill>
                <a:srgbClr val="FFC000"/>
              </a:solidFill>
            </a:endParaRPr>
          </a:p>
        </p:txBody>
      </p:sp>
    </p:spTree>
    <p:extLst>
      <p:ext uri="{BB962C8B-B14F-4D97-AF65-F5344CB8AC3E}">
        <p14:creationId xmlns:p14="http://schemas.microsoft.com/office/powerpoint/2010/main" val="3068731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A153D9-34D4-DAB9-4B60-8E6440B0AB55}"/>
              </a:ext>
            </a:extLst>
          </p:cNvPr>
          <p:cNvSpPr>
            <a:spLocks noGrp="1"/>
          </p:cNvSpPr>
          <p:nvPr>
            <p:ph type="title"/>
          </p:nvPr>
        </p:nvSpPr>
        <p:spPr>
          <a:xfrm>
            <a:off x="811696" y="1372736"/>
            <a:ext cx="10515600" cy="3239588"/>
          </a:xfrm>
        </p:spPr>
        <p:txBody>
          <a:bodyPr>
            <a:normAutofit/>
          </a:bodyPr>
          <a:lstStyle/>
          <a:p>
            <a:pPr algn="ctr"/>
            <a:r>
              <a:rPr lang="fr-FR" sz="5400" b="1" dirty="0">
                <a:solidFill>
                  <a:schemeClr val="bg2"/>
                </a:solidFill>
                <a:latin typeface="Bodoni MT Black" panose="02070A03080606020203" pitchFamily="18" charset="0"/>
              </a:rPr>
              <a:t>RESUME EXECUTIF</a:t>
            </a:r>
            <a:endParaRPr lang="en-US" sz="5400" b="1" dirty="0">
              <a:solidFill>
                <a:schemeClr val="bg2"/>
              </a:solidFill>
              <a:latin typeface="Bodoni MT Black" panose="02070A03080606020203" pitchFamily="18" charset="0"/>
            </a:endParaRPr>
          </a:p>
        </p:txBody>
      </p:sp>
      <p:cxnSp>
        <p:nvCxnSpPr>
          <p:cNvPr id="5" name="Connecteur droit 4">
            <a:extLst>
              <a:ext uri="{FF2B5EF4-FFF2-40B4-BE49-F238E27FC236}">
                <a16:creationId xmlns:a16="http://schemas.microsoft.com/office/drawing/2014/main" id="{E31A1B16-E5FD-D354-950C-7A55E2EC1FB1}"/>
              </a:ext>
            </a:extLst>
          </p:cNvPr>
          <p:cNvCxnSpPr/>
          <p:nvPr/>
        </p:nvCxnSpPr>
        <p:spPr>
          <a:xfrm>
            <a:off x="5011405" y="3631474"/>
            <a:ext cx="1763486" cy="0"/>
          </a:xfrm>
          <a:prstGeom prst="line">
            <a:avLst/>
          </a:prstGeom>
          <a:ln w="53975">
            <a:solidFill>
              <a:srgbClr val="FFC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205941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1581AC-4E2A-0947-91C5-25C6D268D467}"/>
              </a:ext>
            </a:extLst>
          </p:cNvPr>
          <p:cNvSpPr>
            <a:spLocks noGrp="1"/>
          </p:cNvSpPr>
          <p:nvPr>
            <p:ph type="title"/>
          </p:nvPr>
        </p:nvSpPr>
        <p:spPr/>
        <p:txBody>
          <a:bodyPr/>
          <a:lstStyle/>
          <a:p>
            <a:r>
              <a:rPr lang="fr-FR" b="1" dirty="0">
                <a:solidFill>
                  <a:srgbClr val="FFC000"/>
                </a:solidFill>
                <a:latin typeface="Bodoni MT" panose="02070603080606020203" pitchFamily="18" charset="0"/>
              </a:rPr>
              <a:t>  </a:t>
            </a:r>
            <a:r>
              <a:rPr lang="fr-FR" b="1" spc="300" dirty="0">
                <a:solidFill>
                  <a:srgbClr val="FFC000"/>
                </a:solidFill>
                <a:latin typeface="Bodoni MT" panose="02070603080606020203" pitchFamily="18" charset="0"/>
              </a:rPr>
              <a:t>PERFORMANCE TRIMESTRIELLE</a:t>
            </a:r>
            <a:endParaRPr lang="en-US" b="1" spc="300" dirty="0">
              <a:solidFill>
                <a:srgbClr val="FFC000"/>
              </a:solidFill>
              <a:latin typeface="Bodoni MT" panose="02070603080606020203" pitchFamily="18" charset="0"/>
            </a:endParaRPr>
          </a:p>
        </p:txBody>
      </p:sp>
      <p:sp>
        <p:nvSpPr>
          <p:cNvPr id="3" name="Espace réservé du contenu 2">
            <a:extLst>
              <a:ext uri="{FF2B5EF4-FFF2-40B4-BE49-F238E27FC236}">
                <a16:creationId xmlns:a16="http://schemas.microsoft.com/office/drawing/2014/main" id="{3F3A94AA-1801-16A9-B61C-AE9F334240D4}"/>
              </a:ext>
            </a:extLst>
          </p:cNvPr>
          <p:cNvSpPr>
            <a:spLocks noGrp="1"/>
          </p:cNvSpPr>
          <p:nvPr>
            <p:ph idx="1"/>
          </p:nvPr>
        </p:nvSpPr>
        <p:spPr>
          <a:xfrm>
            <a:off x="0" y="1825625"/>
            <a:ext cx="12192000" cy="4351338"/>
          </a:xfrm>
        </p:spPr>
        <p:txBody>
          <a:bodyPr>
            <a:normAutofit/>
          </a:bodyPr>
          <a:lstStyle/>
          <a:p>
            <a:pPr marL="0" indent="0">
              <a:buNone/>
            </a:pPr>
            <a:endParaRPr lang="fr-FR"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2000" dirty="0">
                <a:solidFill>
                  <a:schemeClr val="bg2">
                    <a:lumMod val="75000"/>
                  </a:schemeClr>
                </a:solidFill>
              </a:rPr>
              <a:t>       </a:t>
            </a:r>
            <a:r>
              <a:rPr lang="en-US" sz="2000" i="1" dirty="0">
                <a:solidFill>
                  <a:schemeClr val="bg2">
                    <a:lumMod val="75000"/>
                  </a:schemeClr>
                </a:solidFill>
              </a:rPr>
              <a:t>Le chiffre d’affaires </a:t>
            </a:r>
            <a:r>
              <a:rPr lang="en-US" sz="2000" i="1" dirty="0" err="1">
                <a:solidFill>
                  <a:schemeClr val="bg2">
                    <a:lumMod val="75000"/>
                  </a:schemeClr>
                </a:solidFill>
              </a:rPr>
              <a:t>dépasse</a:t>
            </a:r>
            <a:r>
              <a:rPr lang="en-US" sz="2000" i="1" dirty="0">
                <a:solidFill>
                  <a:schemeClr val="bg2">
                    <a:lumMod val="75000"/>
                  </a:schemeClr>
                </a:solidFill>
              </a:rPr>
              <a:t> les </a:t>
            </a:r>
            <a:r>
              <a:rPr lang="en-US" sz="2000" i="1" dirty="0" err="1">
                <a:solidFill>
                  <a:schemeClr val="bg2">
                    <a:lumMod val="75000"/>
                  </a:schemeClr>
                </a:solidFill>
              </a:rPr>
              <a:t>prévisions</a:t>
            </a:r>
            <a:r>
              <a:rPr lang="en-US" sz="2000" i="1" dirty="0">
                <a:solidFill>
                  <a:schemeClr val="bg2">
                    <a:lumMod val="75000"/>
                  </a:schemeClr>
                </a:solidFill>
              </a:rPr>
              <a:t> </a:t>
            </a:r>
            <a:r>
              <a:rPr lang="en-US" sz="2000" i="1" dirty="0" err="1">
                <a:solidFill>
                  <a:schemeClr val="bg2">
                    <a:lumMod val="75000"/>
                  </a:schemeClr>
                </a:solidFill>
              </a:rPr>
              <a:t>initiales</a:t>
            </a:r>
            <a:r>
              <a:rPr lang="en-US" sz="2000" i="1" dirty="0">
                <a:solidFill>
                  <a:schemeClr val="bg2">
                    <a:lumMod val="75000"/>
                  </a:schemeClr>
                </a:solidFill>
              </a:rPr>
              <a:t> grâce à </a:t>
            </a:r>
            <a:r>
              <a:rPr lang="en-US" sz="2000" i="1" dirty="0" err="1">
                <a:solidFill>
                  <a:schemeClr val="bg2">
                    <a:lumMod val="75000"/>
                  </a:schemeClr>
                </a:solidFill>
              </a:rPr>
              <a:t>l’optimisation</a:t>
            </a:r>
            <a:r>
              <a:rPr lang="en-US" sz="2000" i="1" dirty="0">
                <a:solidFill>
                  <a:schemeClr val="bg2">
                    <a:lumMod val="75000"/>
                  </a:schemeClr>
                </a:solidFill>
              </a:rPr>
              <a:t> des prix de vente du </a:t>
            </a:r>
            <a:r>
              <a:rPr lang="en-US" sz="2000" i="1" dirty="0" err="1">
                <a:solidFill>
                  <a:schemeClr val="bg2">
                    <a:lumMod val="75000"/>
                  </a:schemeClr>
                </a:solidFill>
              </a:rPr>
              <a:t>Cobalte</a:t>
            </a:r>
            <a:endParaRPr lang="en-US" sz="2000" i="1" dirty="0">
              <a:solidFill>
                <a:schemeClr val="bg2">
                  <a:lumMod val="75000"/>
                </a:schemeClr>
              </a:solidFill>
            </a:endParaRPr>
          </a:p>
        </p:txBody>
      </p:sp>
      <p:sp>
        <p:nvSpPr>
          <p:cNvPr id="4" name="Rectangle : coins arrondis 3">
            <a:extLst>
              <a:ext uri="{FF2B5EF4-FFF2-40B4-BE49-F238E27FC236}">
                <a16:creationId xmlns:a16="http://schemas.microsoft.com/office/drawing/2014/main" id="{BE389B0D-9AB4-8A43-E76D-8CE48AD68D24}"/>
              </a:ext>
            </a:extLst>
          </p:cNvPr>
          <p:cNvSpPr/>
          <p:nvPr/>
        </p:nvSpPr>
        <p:spPr>
          <a:xfrm>
            <a:off x="598714" y="2660373"/>
            <a:ext cx="3222172" cy="2151112"/>
          </a:xfrm>
          <a:prstGeom prst="roundRect">
            <a:avLst/>
          </a:prstGeom>
          <a:solidFill>
            <a:srgbClr val="0F172A"/>
          </a:solidFill>
          <a:ln w="9525">
            <a:solidFill>
              <a:srgbClr val="FFC000"/>
            </a:solidFill>
          </a:ln>
          <a:effectLst>
            <a:innerShdw blurRad="114300">
              <a:srgbClr val="FFC000"/>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lumMod val="50000"/>
                  </a:schemeClr>
                </a:solidFill>
              </a:rPr>
              <a:t>(</a:t>
            </a:r>
            <a:r>
              <a:rPr lang="fr-FR" sz="4000" b="1" dirty="0">
                <a:solidFill>
                  <a:srgbClr val="FFC000"/>
                </a:solidFill>
              </a:rPr>
              <a:t>268.6M</a:t>
            </a:r>
          </a:p>
          <a:p>
            <a:pPr algn="ctr"/>
            <a:r>
              <a:rPr lang="fr-FR" dirty="0">
                <a:solidFill>
                  <a:schemeClr val="bg1">
                    <a:lumMod val="50000"/>
                  </a:schemeClr>
                </a:solidFill>
              </a:rPr>
              <a:t>CHIFFRE D’AFFAIRESUSD)</a:t>
            </a:r>
          </a:p>
        </p:txBody>
      </p:sp>
      <p:sp>
        <p:nvSpPr>
          <p:cNvPr id="5" name="Rectangle : coins arrondis 4">
            <a:extLst>
              <a:ext uri="{FF2B5EF4-FFF2-40B4-BE49-F238E27FC236}">
                <a16:creationId xmlns:a16="http://schemas.microsoft.com/office/drawing/2014/main" id="{C5C4C7B1-C185-F4EB-7E5B-391D1E971AF0}"/>
              </a:ext>
            </a:extLst>
          </p:cNvPr>
          <p:cNvSpPr/>
          <p:nvPr/>
        </p:nvSpPr>
        <p:spPr>
          <a:xfrm>
            <a:off x="4479471" y="2660373"/>
            <a:ext cx="3222172" cy="2151112"/>
          </a:xfrm>
          <a:prstGeom prst="roundRect">
            <a:avLst/>
          </a:prstGeom>
          <a:solidFill>
            <a:srgbClr val="0F172A"/>
          </a:solidFill>
          <a:ln w="9525">
            <a:solidFill>
              <a:srgbClr val="FFC000"/>
            </a:solidFill>
          </a:ln>
          <a:effectLst>
            <a:innerShdw blurRad="114300">
              <a:srgbClr val="FFC000"/>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000" b="1" dirty="0">
                <a:solidFill>
                  <a:srgbClr val="FFC000"/>
                </a:solidFill>
              </a:rPr>
              <a:t>64.6K</a:t>
            </a:r>
          </a:p>
          <a:p>
            <a:pPr algn="ctr"/>
            <a:r>
              <a:rPr lang="fr-FR" dirty="0">
                <a:solidFill>
                  <a:schemeClr val="bg1">
                    <a:lumMod val="50000"/>
                  </a:schemeClr>
                </a:solidFill>
              </a:rPr>
              <a:t>TONNAGE TOTAL VENDU</a:t>
            </a:r>
          </a:p>
        </p:txBody>
      </p:sp>
      <p:sp>
        <p:nvSpPr>
          <p:cNvPr id="6" name="Rectangle : coins arrondis 5">
            <a:extLst>
              <a:ext uri="{FF2B5EF4-FFF2-40B4-BE49-F238E27FC236}">
                <a16:creationId xmlns:a16="http://schemas.microsoft.com/office/drawing/2014/main" id="{1B6E3286-049C-82A3-E618-F5844CBD51EF}"/>
              </a:ext>
            </a:extLst>
          </p:cNvPr>
          <p:cNvSpPr/>
          <p:nvPr/>
        </p:nvSpPr>
        <p:spPr>
          <a:xfrm>
            <a:off x="8360228" y="2660373"/>
            <a:ext cx="3222172" cy="2151112"/>
          </a:xfrm>
          <a:prstGeom prst="roundRect">
            <a:avLst/>
          </a:prstGeom>
          <a:solidFill>
            <a:srgbClr val="0F172A"/>
          </a:solidFill>
          <a:ln w="9525">
            <a:solidFill>
              <a:srgbClr val="FFC000"/>
            </a:solidFill>
          </a:ln>
          <a:effectLst>
            <a:innerShdw blurRad="114300">
              <a:srgbClr val="FFC000"/>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000" b="1" dirty="0">
                <a:solidFill>
                  <a:srgbClr val="FFC000"/>
                </a:solidFill>
              </a:rPr>
              <a:t>05</a:t>
            </a:r>
          </a:p>
          <a:p>
            <a:pPr algn="ctr"/>
            <a:r>
              <a:rPr lang="fr-FR" dirty="0">
                <a:solidFill>
                  <a:schemeClr val="bg1">
                    <a:lumMod val="50000"/>
                  </a:schemeClr>
                </a:solidFill>
              </a:rPr>
              <a:t>ENGINS EN OPERATION</a:t>
            </a:r>
          </a:p>
        </p:txBody>
      </p:sp>
      <p:cxnSp>
        <p:nvCxnSpPr>
          <p:cNvPr id="8" name="Connecteur droit 7">
            <a:extLst>
              <a:ext uri="{FF2B5EF4-FFF2-40B4-BE49-F238E27FC236}">
                <a16:creationId xmlns:a16="http://schemas.microsoft.com/office/drawing/2014/main" id="{DCFBD6A9-4C8E-4A74-CDDD-171D7B22850B}"/>
              </a:ext>
            </a:extLst>
          </p:cNvPr>
          <p:cNvCxnSpPr>
            <a:cxnSpLocks/>
          </p:cNvCxnSpPr>
          <p:nvPr/>
        </p:nvCxnSpPr>
        <p:spPr>
          <a:xfrm>
            <a:off x="890451" y="457200"/>
            <a:ext cx="0" cy="914400"/>
          </a:xfrm>
          <a:prstGeom prst="line">
            <a:avLst/>
          </a:prstGeom>
          <a:ln w="63500">
            <a:solidFill>
              <a:srgbClr val="FFC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0545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8CC7FB-FA43-3243-B077-14C5072B0001}"/>
              </a:ext>
            </a:extLst>
          </p:cNvPr>
          <p:cNvSpPr>
            <a:spLocks noGrp="1"/>
          </p:cNvSpPr>
          <p:nvPr>
            <p:ph type="title"/>
          </p:nvPr>
        </p:nvSpPr>
        <p:spPr/>
        <p:txBody>
          <a:bodyPr/>
          <a:lstStyle/>
          <a:p>
            <a:pPr algn="ctr"/>
            <a:r>
              <a:rPr lang="fr-FR" spc="600" dirty="0">
                <a:solidFill>
                  <a:srgbClr val="FFC000"/>
                </a:solidFill>
                <a:latin typeface="Bernard MT Condensed" panose="02050806060905020404" pitchFamily="18" charset="0"/>
              </a:rPr>
              <a:t>DISTRIBUTION DES VOLUMES PAR SITE</a:t>
            </a:r>
            <a:endParaRPr lang="en-US" spc="600" dirty="0">
              <a:solidFill>
                <a:srgbClr val="FFC000"/>
              </a:solidFill>
              <a:latin typeface="Bernard MT Condensed" panose="02050806060905020404" pitchFamily="18" charset="0"/>
            </a:endParaRPr>
          </a:p>
        </p:txBody>
      </p:sp>
      <p:sp>
        <p:nvSpPr>
          <p:cNvPr id="13" name="Espace réservé du contenu 12">
            <a:extLst>
              <a:ext uri="{FF2B5EF4-FFF2-40B4-BE49-F238E27FC236}">
                <a16:creationId xmlns:a16="http://schemas.microsoft.com/office/drawing/2014/main" id="{BBCB83FA-F82D-81A1-A43B-E29DB86E5457}"/>
              </a:ext>
            </a:extLst>
          </p:cNvPr>
          <p:cNvSpPr>
            <a:spLocks noGrp="1"/>
          </p:cNvSpPr>
          <p:nvPr>
            <p:ph idx="1"/>
          </p:nvPr>
        </p:nvSpPr>
        <p:spPr>
          <a:xfrm>
            <a:off x="-1" y="1825624"/>
            <a:ext cx="12192001" cy="5032375"/>
          </a:xfrm>
        </p:spPr>
        <p:txBody>
          <a:bodyPr/>
          <a:lstStyle/>
          <a:p>
            <a:pPr marL="0" indent="0">
              <a:buNone/>
            </a:pPr>
            <a:r>
              <a:rPr lang="fr-FR" dirty="0"/>
              <a:t>   </a:t>
            </a:r>
          </a:p>
          <a:p>
            <a:pPr marL="0" indent="0">
              <a:buNone/>
            </a:pPr>
            <a:r>
              <a:rPr lang="fr-FR" sz="2000" dirty="0">
                <a:solidFill>
                  <a:schemeClr val="bg2">
                    <a:lumMod val="90000"/>
                  </a:schemeClr>
                </a:solidFill>
              </a:rPr>
              <a:t>KAMAT0</a:t>
            </a:r>
          </a:p>
          <a:p>
            <a:pPr marL="0" indent="0">
              <a:buNone/>
            </a:pPr>
            <a:endParaRPr lang="fr-FR" dirty="0"/>
          </a:p>
          <a:p>
            <a:pPr marL="0" indent="0">
              <a:buNone/>
            </a:pPr>
            <a:r>
              <a:rPr lang="fr-FR" sz="2000" dirty="0">
                <a:solidFill>
                  <a:schemeClr val="bg2">
                    <a:lumMod val="90000"/>
                  </a:schemeClr>
                </a:solidFill>
              </a:rPr>
              <a:t>ETOILE</a:t>
            </a:r>
          </a:p>
          <a:p>
            <a:pPr marL="0" indent="0">
              <a:buNone/>
            </a:pPr>
            <a:endParaRPr lang="fr-FR" dirty="0"/>
          </a:p>
          <a:p>
            <a:pPr marL="0" indent="0">
              <a:buNone/>
            </a:pPr>
            <a:r>
              <a:rPr lang="fr-FR" sz="2000" dirty="0">
                <a:solidFill>
                  <a:schemeClr val="bg2">
                    <a:lumMod val="90000"/>
                  </a:schemeClr>
                </a:solidFill>
              </a:rPr>
              <a:t>RUASHI</a:t>
            </a:r>
          </a:p>
          <a:p>
            <a:pPr marL="0" indent="0">
              <a:buNone/>
            </a:pPr>
            <a:endParaRPr lang="fr-FR" dirty="0"/>
          </a:p>
          <a:p>
            <a:pPr marL="0" indent="0">
              <a:buNone/>
            </a:pPr>
            <a:r>
              <a:rPr lang="fr-FR" sz="2000" dirty="0">
                <a:solidFill>
                  <a:schemeClr val="bg2">
                    <a:lumMod val="50000"/>
                  </a:schemeClr>
                </a:solidFill>
              </a:rPr>
              <a:t>   Le site de KAMATO reste notre principal moteur de croissance, représentant près de 42% du volume total du groupe.</a:t>
            </a:r>
          </a:p>
        </p:txBody>
      </p:sp>
      <p:sp>
        <p:nvSpPr>
          <p:cNvPr id="15" name="Rectangle : coins arrondis 14">
            <a:extLst>
              <a:ext uri="{FF2B5EF4-FFF2-40B4-BE49-F238E27FC236}">
                <a16:creationId xmlns:a16="http://schemas.microsoft.com/office/drawing/2014/main" id="{7347E407-90CC-480E-D4F1-1C4316E9AB22}"/>
              </a:ext>
            </a:extLst>
          </p:cNvPr>
          <p:cNvSpPr/>
          <p:nvPr/>
        </p:nvSpPr>
        <p:spPr>
          <a:xfrm>
            <a:off x="1928948" y="2240280"/>
            <a:ext cx="9592492" cy="568234"/>
          </a:xfrm>
          <a:prstGeom prst="roundRect">
            <a:avLst>
              <a:gd name="adj" fmla="val 12069"/>
            </a:avLst>
          </a:prstGeom>
          <a:solidFill>
            <a:schemeClr val="bg2">
              <a:lumMod val="50000"/>
              <a:alpha val="2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 coins arrondis 15">
            <a:extLst>
              <a:ext uri="{FF2B5EF4-FFF2-40B4-BE49-F238E27FC236}">
                <a16:creationId xmlns:a16="http://schemas.microsoft.com/office/drawing/2014/main" id="{2289D971-6618-3725-B65F-B2D46EE70E9A}"/>
              </a:ext>
            </a:extLst>
          </p:cNvPr>
          <p:cNvSpPr/>
          <p:nvPr/>
        </p:nvSpPr>
        <p:spPr>
          <a:xfrm>
            <a:off x="1928948" y="2240280"/>
            <a:ext cx="8821783" cy="568234"/>
          </a:xfrm>
          <a:prstGeom prst="roundRect">
            <a:avLst>
              <a:gd name="adj" fmla="val 12069"/>
            </a:avLst>
          </a:prstGeom>
          <a:solidFill>
            <a:srgbClr val="FFC000">
              <a:alpha val="7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                                                                                                                                                                      7000T</a:t>
            </a:r>
            <a:endParaRPr lang="en-US" b="1" dirty="0"/>
          </a:p>
        </p:txBody>
      </p:sp>
      <p:sp>
        <p:nvSpPr>
          <p:cNvPr id="17" name="Rectangle : coins arrondis 16">
            <a:extLst>
              <a:ext uri="{FF2B5EF4-FFF2-40B4-BE49-F238E27FC236}">
                <a16:creationId xmlns:a16="http://schemas.microsoft.com/office/drawing/2014/main" id="{B7C4F1DD-2234-1F89-E6A1-A5F82AF159F4}"/>
              </a:ext>
            </a:extLst>
          </p:cNvPr>
          <p:cNvSpPr/>
          <p:nvPr/>
        </p:nvSpPr>
        <p:spPr>
          <a:xfrm>
            <a:off x="1928948" y="3144883"/>
            <a:ext cx="9592492" cy="568234"/>
          </a:xfrm>
          <a:prstGeom prst="roundRect">
            <a:avLst>
              <a:gd name="adj" fmla="val 12069"/>
            </a:avLst>
          </a:prstGeom>
          <a:solidFill>
            <a:schemeClr val="bg2">
              <a:lumMod val="50000"/>
              <a:alpha val="2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 coins arrondis 17">
            <a:extLst>
              <a:ext uri="{FF2B5EF4-FFF2-40B4-BE49-F238E27FC236}">
                <a16:creationId xmlns:a16="http://schemas.microsoft.com/office/drawing/2014/main" id="{DADACB10-9F36-A056-684B-00F826032455}"/>
              </a:ext>
            </a:extLst>
          </p:cNvPr>
          <p:cNvSpPr/>
          <p:nvPr/>
        </p:nvSpPr>
        <p:spPr>
          <a:xfrm>
            <a:off x="1928949" y="3144883"/>
            <a:ext cx="6483531" cy="568234"/>
          </a:xfrm>
          <a:prstGeom prst="roundRect">
            <a:avLst>
              <a:gd name="adj" fmla="val 12069"/>
            </a:avLst>
          </a:prstGeom>
          <a:solidFill>
            <a:srgbClr val="FFC000">
              <a:alpha val="7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                                                                                                              5400T</a:t>
            </a:r>
            <a:endParaRPr lang="en-US" b="1" dirty="0"/>
          </a:p>
        </p:txBody>
      </p:sp>
      <p:sp>
        <p:nvSpPr>
          <p:cNvPr id="19" name="Rectangle : coins arrondis 18">
            <a:extLst>
              <a:ext uri="{FF2B5EF4-FFF2-40B4-BE49-F238E27FC236}">
                <a16:creationId xmlns:a16="http://schemas.microsoft.com/office/drawing/2014/main" id="{E1C11751-6C1C-3144-DF2D-AF5566932A19}"/>
              </a:ext>
            </a:extLst>
          </p:cNvPr>
          <p:cNvSpPr/>
          <p:nvPr/>
        </p:nvSpPr>
        <p:spPr>
          <a:xfrm>
            <a:off x="1928948" y="4096838"/>
            <a:ext cx="9592492" cy="568234"/>
          </a:xfrm>
          <a:prstGeom prst="roundRect">
            <a:avLst>
              <a:gd name="adj" fmla="val 12069"/>
            </a:avLst>
          </a:prstGeom>
          <a:solidFill>
            <a:schemeClr val="bg2">
              <a:lumMod val="50000"/>
              <a:alpha val="2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 coins arrondis 19">
            <a:extLst>
              <a:ext uri="{FF2B5EF4-FFF2-40B4-BE49-F238E27FC236}">
                <a16:creationId xmlns:a16="http://schemas.microsoft.com/office/drawing/2014/main" id="{3F5E5817-C6E4-8DAD-70F2-A40598D45263}"/>
              </a:ext>
            </a:extLst>
          </p:cNvPr>
          <p:cNvSpPr/>
          <p:nvPr/>
        </p:nvSpPr>
        <p:spPr>
          <a:xfrm>
            <a:off x="1928948" y="4096838"/>
            <a:ext cx="5072742" cy="568234"/>
          </a:xfrm>
          <a:prstGeom prst="roundRect">
            <a:avLst>
              <a:gd name="adj" fmla="val 12069"/>
            </a:avLst>
          </a:prstGeom>
          <a:solidFill>
            <a:srgbClr val="FFC000">
              <a:alpha val="7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                                                                                     4500T</a:t>
            </a:r>
            <a:endParaRPr lang="en-US" b="1" dirty="0"/>
          </a:p>
        </p:txBody>
      </p:sp>
      <p:cxnSp>
        <p:nvCxnSpPr>
          <p:cNvPr id="21" name="Connecteur droit 20">
            <a:extLst>
              <a:ext uri="{FF2B5EF4-FFF2-40B4-BE49-F238E27FC236}">
                <a16:creationId xmlns:a16="http://schemas.microsoft.com/office/drawing/2014/main" id="{351247BE-2475-A934-CCAB-3E64DE6A08D5}"/>
              </a:ext>
            </a:extLst>
          </p:cNvPr>
          <p:cNvCxnSpPr>
            <a:cxnSpLocks/>
          </p:cNvCxnSpPr>
          <p:nvPr/>
        </p:nvCxnSpPr>
        <p:spPr>
          <a:xfrm>
            <a:off x="668383" y="496388"/>
            <a:ext cx="0" cy="914400"/>
          </a:xfrm>
          <a:prstGeom prst="line">
            <a:avLst/>
          </a:prstGeom>
          <a:ln w="63500">
            <a:solidFill>
              <a:srgbClr val="FFC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4133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E4FE04-8210-A2E2-B9FC-2E4BAB72E2CB}"/>
              </a:ext>
            </a:extLst>
          </p:cNvPr>
          <p:cNvSpPr>
            <a:spLocks noGrp="1"/>
          </p:cNvSpPr>
          <p:nvPr>
            <p:ph type="title"/>
          </p:nvPr>
        </p:nvSpPr>
        <p:spPr/>
        <p:txBody>
          <a:bodyPr/>
          <a:lstStyle/>
          <a:p>
            <a:r>
              <a:rPr lang="fr-FR" dirty="0">
                <a:solidFill>
                  <a:srgbClr val="FFC000"/>
                </a:solidFill>
                <a:latin typeface="Bodoni MT" panose="02070603080606020203" pitchFamily="18" charset="0"/>
              </a:rPr>
              <a:t>ZOOM OPERATIONNEL : KAMATO</a:t>
            </a:r>
            <a:endParaRPr lang="en-US" dirty="0">
              <a:solidFill>
                <a:srgbClr val="FFC000"/>
              </a:solidFill>
              <a:latin typeface="Bodoni MT" panose="02070603080606020203" pitchFamily="18" charset="0"/>
            </a:endParaRPr>
          </a:p>
        </p:txBody>
      </p:sp>
      <p:sp>
        <p:nvSpPr>
          <p:cNvPr id="3" name="Espace réservé du contenu 2">
            <a:extLst>
              <a:ext uri="{FF2B5EF4-FFF2-40B4-BE49-F238E27FC236}">
                <a16:creationId xmlns:a16="http://schemas.microsoft.com/office/drawing/2014/main" id="{EBF3EA1B-DDCC-8D7C-37BE-19D094D43D0C}"/>
              </a:ext>
            </a:extLst>
          </p:cNvPr>
          <p:cNvSpPr>
            <a:spLocks noGrp="1"/>
          </p:cNvSpPr>
          <p:nvPr>
            <p:ph idx="1"/>
          </p:nvPr>
        </p:nvSpPr>
        <p:spPr>
          <a:xfrm>
            <a:off x="603068" y="1838688"/>
            <a:ext cx="6476999" cy="4351338"/>
          </a:xfrm>
        </p:spPr>
        <p:txBody>
          <a:bodyPr/>
          <a:lstStyle/>
          <a:p>
            <a:pPr marL="0" indent="0">
              <a:buNone/>
            </a:pPr>
            <a:r>
              <a:rPr lang="fr-FR" sz="2400" b="1" dirty="0">
                <a:solidFill>
                  <a:schemeClr val="bg2">
                    <a:lumMod val="75000"/>
                  </a:schemeClr>
                </a:solidFill>
              </a:rPr>
              <a:t>Statuts</a:t>
            </a:r>
            <a:r>
              <a:rPr lang="fr-FR" sz="2400" dirty="0">
                <a:solidFill>
                  <a:schemeClr val="bg2">
                    <a:lumMod val="75000"/>
                  </a:schemeClr>
                </a:solidFill>
              </a:rPr>
              <a:t>: Leader du portefeuille</a:t>
            </a:r>
          </a:p>
          <a:p>
            <a:pPr marL="0" indent="0">
              <a:buNone/>
            </a:pPr>
            <a:endParaRPr lang="fr-FR" sz="2400" dirty="0">
              <a:solidFill>
                <a:schemeClr val="bg2">
                  <a:lumMod val="75000"/>
                </a:schemeClr>
              </a:solidFill>
            </a:endParaRPr>
          </a:p>
          <a:p>
            <a:r>
              <a:rPr lang="fr-FR" sz="2400" dirty="0">
                <a:solidFill>
                  <a:schemeClr val="bg2">
                    <a:lumMod val="75000"/>
                  </a:schemeClr>
                </a:solidFill>
              </a:rPr>
              <a:t>Rendement exceptionnel de la mine à ciel ouvert.</a:t>
            </a:r>
          </a:p>
          <a:p>
            <a:r>
              <a:rPr lang="fr-FR" sz="2400" dirty="0">
                <a:solidFill>
                  <a:schemeClr val="bg2">
                    <a:lumMod val="75000"/>
                  </a:schemeClr>
                </a:solidFill>
              </a:rPr>
              <a:t>Intégration réussie des nouveaux protocoles de sécurité.</a:t>
            </a:r>
          </a:p>
          <a:p>
            <a:r>
              <a:rPr lang="fr-FR" sz="2400" dirty="0">
                <a:solidFill>
                  <a:schemeClr val="bg2">
                    <a:lumMod val="75000"/>
                  </a:schemeClr>
                </a:solidFill>
              </a:rPr>
              <a:t>Objectif 2026: Augmenter la capacité de traitement de 15%           </a:t>
            </a:r>
            <a:r>
              <a:rPr lang="fr-FR" sz="2400" dirty="0"/>
              <a:t>   </a:t>
            </a:r>
          </a:p>
          <a:p>
            <a:endParaRPr lang="en-US" dirty="0"/>
          </a:p>
        </p:txBody>
      </p:sp>
      <p:cxnSp>
        <p:nvCxnSpPr>
          <p:cNvPr id="4" name="Connecteur droit 3">
            <a:extLst>
              <a:ext uri="{FF2B5EF4-FFF2-40B4-BE49-F238E27FC236}">
                <a16:creationId xmlns:a16="http://schemas.microsoft.com/office/drawing/2014/main" id="{1FC86953-38F9-B1D4-D078-1E97685C2FA6}"/>
              </a:ext>
            </a:extLst>
          </p:cNvPr>
          <p:cNvCxnSpPr>
            <a:cxnSpLocks/>
          </p:cNvCxnSpPr>
          <p:nvPr/>
        </p:nvCxnSpPr>
        <p:spPr>
          <a:xfrm>
            <a:off x="603068" y="457200"/>
            <a:ext cx="0" cy="914400"/>
          </a:xfrm>
          <a:prstGeom prst="line">
            <a:avLst/>
          </a:prstGeom>
          <a:ln w="63500">
            <a:solidFill>
              <a:srgbClr val="FFC000"/>
            </a:solidFill>
          </a:ln>
        </p:spPr>
        <p:style>
          <a:lnRef idx="3">
            <a:schemeClr val="accent1"/>
          </a:lnRef>
          <a:fillRef idx="0">
            <a:schemeClr val="accent1"/>
          </a:fillRef>
          <a:effectRef idx="2">
            <a:schemeClr val="accent1"/>
          </a:effectRef>
          <a:fontRef idx="minor">
            <a:schemeClr val="tx1"/>
          </a:fontRef>
        </p:style>
      </p:cxnSp>
      <p:pic>
        <p:nvPicPr>
          <p:cNvPr id="1026" name="Picture 2" descr="Dump truck in pit mine">
            <a:hlinkClick r:id="rId2"/>
            <a:extLst>
              <a:ext uri="{FF2B5EF4-FFF2-40B4-BE49-F238E27FC236}">
                <a16:creationId xmlns:a16="http://schemas.microsoft.com/office/drawing/2014/main" id="{12ADE326-18EE-287A-B0A9-9E1F3F27E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9622" y="1560603"/>
            <a:ext cx="5412377"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687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A29C1-72FD-9C57-D7D8-E6AAE1308657}"/>
              </a:ext>
            </a:extLst>
          </p:cNvPr>
          <p:cNvSpPr>
            <a:spLocks noGrp="1"/>
          </p:cNvSpPr>
          <p:nvPr>
            <p:ph type="title"/>
          </p:nvPr>
        </p:nvSpPr>
        <p:spPr>
          <a:xfrm>
            <a:off x="738050" y="344566"/>
            <a:ext cx="10515600" cy="1325563"/>
          </a:xfrm>
        </p:spPr>
        <p:txBody>
          <a:bodyPr/>
          <a:lstStyle/>
          <a:p>
            <a:r>
              <a:rPr lang="fr-FR" dirty="0">
                <a:solidFill>
                  <a:srgbClr val="FFC000"/>
                </a:solidFill>
                <a:latin typeface="Bodoni MT" panose="02070603080606020203" pitchFamily="18" charset="0"/>
              </a:rPr>
              <a:t>  REPARTION PAR TYPE DE MINERAI</a:t>
            </a:r>
            <a:endParaRPr lang="en-US" dirty="0">
              <a:solidFill>
                <a:srgbClr val="FFC000"/>
              </a:solidFill>
              <a:latin typeface="Bodoni MT" panose="02070603080606020203" pitchFamily="18" charset="0"/>
            </a:endParaRPr>
          </a:p>
        </p:txBody>
      </p:sp>
      <p:sp>
        <p:nvSpPr>
          <p:cNvPr id="5" name="Rectangle 4">
            <a:extLst>
              <a:ext uri="{FF2B5EF4-FFF2-40B4-BE49-F238E27FC236}">
                <a16:creationId xmlns:a16="http://schemas.microsoft.com/office/drawing/2014/main" id="{420C40D8-4677-CFA8-96BA-A09ECC1C280E}"/>
              </a:ext>
            </a:extLst>
          </p:cNvPr>
          <p:cNvSpPr/>
          <p:nvPr/>
        </p:nvSpPr>
        <p:spPr>
          <a:xfrm>
            <a:off x="631371" y="2305594"/>
            <a:ext cx="10881360" cy="816429"/>
          </a:xfrm>
          <a:prstGeom prst="rect">
            <a:avLst/>
          </a:prstGeom>
          <a:solidFill>
            <a:srgbClr val="FFC000">
              <a:alpha val="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FFC000"/>
              </a:solidFill>
            </a:endParaRPr>
          </a:p>
        </p:txBody>
      </p:sp>
      <p:sp>
        <p:nvSpPr>
          <p:cNvPr id="6" name="ZoneTexte 5">
            <a:extLst>
              <a:ext uri="{FF2B5EF4-FFF2-40B4-BE49-F238E27FC236}">
                <a16:creationId xmlns:a16="http://schemas.microsoft.com/office/drawing/2014/main" id="{4FBFB7ED-10FA-1C8C-B9C4-86019CD786FF}"/>
              </a:ext>
            </a:extLst>
          </p:cNvPr>
          <p:cNvSpPr txBox="1"/>
          <p:nvPr/>
        </p:nvSpPr>
        <p:spPr>
          <a:xfrm>
            <a:off x="5891348" y="2514599"/>
            <a:ext cx="1933303" cy="369332"/>
          </a:xfrm>
          <a:prstGeom prst="rect">
            <a:avLst/>
          </a:prstGeom>
          <a:noFill/>
        </p:spPr>
        <p:txBody>
          <a:bodyPr wrap="square" rtlCol="0">
            <a:spAutoFit/>
          </a:bodyPr>
          <a:lstStyle/>
          <a:p>
            <a:r>
              <a:rPr lang="fr-FR" b="1" dirty="0">
                <a:solidFill>
                  <a:srgbClr val="FFC000"/>
                </a:solidFill>
              </a:rPr>
              <a:t>Valeur Marché</a:t>
            </a:r>
            <a:endParaRPr lang="en-US" b="1" dirty="0">
              <a:solidFill>
                <a:srgbClr val="FFC000"/>
              </a:solidFill>
            </a:endParaRPr>
          </a:p>
        </p:txBody>
      </p:sp>
      <p:sp>
        <p:nvSpPr>
          <p:cNvPr id="7" name="ZoneTexte 6">
            <a:extLst>
              <a:ext uri="{FF2B5EF4-FFF2-40B4-BE49-F238E27FC236}">
                <a16:creationId xmlns:a16="http://schemas.microsoft.com/office/drawing/2014/main" id="{1A37E551-CC76-A3ED-DDC4-8FF71549BACA}"/>
              </a:ext>
            </a:extLst>
          </p:cNvPr>
          <p:cNvSpPr txBox="1"/>
          <p:nvPr/>
        </p:nvSpPr>
        <p:spPr>
          <a:xfrm>
            <a:off x="1014548" y="2514599"/>
            <a:ext cx="1933303" cy="369332"/>
          </a:xfrm>
          <a:prstGeom prst="rect">
            <a:avLst/>
          </a:prstGeom>
          <a:noFill/>
        </p:spPr>
        <p:txBody>
          <a:bodyPr wrap="square" rtlCol="0">
            <a:spAutoFit/>
          </a:bodyPr>
          <a:lstStyle/>
          <a:p>
            <a:r>
              <a:rPr lang="fr-FR" b="1" dirty="0">
                <a:solidFill>
                  <a:srgbClr val="FFC000"/>
                </a:solidFill>
              </a:rPr>
              <a:t>Type de Minerai</a:t>
            </a:r>
            <a:endParaRPr lang="en-US" b="1" dirty="0">
              <a:solidFill>
                <a:srgbClr val="FFC000"/>
              </a:solidFill>
            </a:endParaRPr>
          </a:p>
        </p:txBody>
      </p:sp>
      <p:sp>
        <p:nvSpPr>
          <p:cNvPr id="8" name="ZoneTexte 7">
            <a:extLst>
              <a:ext uri="{FF2B5EF4-FFF2-40B4-BE49-F238E27FC236}">
                <a16:creationId xmlns:a16="http://schemas.microsoft.com/office/drawing/2014/main" id="{C29344EC-75FD-820F-1C70-E3CDD9C74A4E}"/>
              </a:ext>
            </a:extLst>
          </p:cNvPr>
          <p:cNvSpPr txBox="1"/>
          <p:nvPr/>
        </p:nvSpPr>
        <p:spPr>
          <a:xfrm>
            <a:off x="3331028" y="2529142"/>
            <a:ext cx="1933303" cy="369332"/>
          </a:xfrm>
          <a:prstGeom prst="rect">
            <a:avLst/>
          </a:prstGeom>
          <a:noFill/>
        </p:spPr>
        <p:txBody>
          <a:bodyPr wrap="square" rtlCol="0">
            <a:spAutoFit/>
          </a:bodyPr>
          <a:lstStyle/>
          <a:p>
            <a:r>
              <a:rPr lang="fr-FR" b="1" dirty="0">
                <a:solidFill>
                  <a:srgbClr val="FFC000"/>
                </a:solidFill>
              </a:rPr>
              <a:t>Volume (Tonnes)</a:t>
            </a:r>
            <a:endParaRPr lang="en-US" dirty="0"/>
          </a:p>
        </p:txBody>
      </p:sp>
      <p:sp>
        <p:nvSpPr>
          <p:cNvPr id="9" name="ZoneTexte 8">
            <a:extLst>
              <a:ext uri="{FF2B5EF4-FFF2-40B4-BE49-F238E27FC236}">
                <a16:creationId xmlns:a16="http://schemas.microsoft.com/office/drawing/2014/main" id="{304034D0-1086-B0D0-A406-E581939AB889}"/>
              </a:ext>
            </a:extLst>
          </p:cNvPr>
          <p:cNvSpPr txBox="1"/>
          <p:nvPr/>
        </p:nvSpPr>
        <p:spPr>
          <a:xfrm>
            <a:off x="9091749" y="2529142"/>
            <a:ext cx="1933303" cy="369332"/>
          </a:xfrm>
          <a:prstGeom prst="rect">
            <a:avLst/>
          </a:prstGeom>
          <a:noFill/>
        </p:spPr>
        <p:txBody>
          <a:bodyPr wrap="square" rtlCol="0">
            <a:spAutoFit/>
          </a:bodyPr>
          <a:lstStyle/>
          <a:p>
            <a:r>
              <a:rPr lang="fr-FR" dirty="0">
                <a:solidFill>
                  <a:srgbClr val="FFC000"/>
                </a:solidFill>
              </a:rPr>
              <a:t>Statu</a:t>
            </a:r>
            <a:endParaRPr lang="en-US" dirty="0">
              <a:solidFill>
                <a:srgbClr val="FFC000"/>
              </a:solidFill>
            </a:endParaRPr>
          </a:p>
        </p:txBody>
      </p:sp>
      <p:cxnSp>
        <p:nvCxnSpPr>
          <p:cNvPr id="11" name="Connecteur droit 10">
            <a:extLst>
              <a:ext uri="{FF2B5EF4-FFF2-40B4-BE49-F238E27FC236}">
                <a16:creationId xmlns:a16="http://schemas.microsoft.com/office/drawing/2014/main" id="{640C7F1F-8F0D-7505-0B4F-DDC16C7DC44D}"/>
              </a:ext>
            </a:extLst>
          </p:cNvPr>
          <p:cNvCxnSpPr/>
          <p:nvPr/>
        </p:nvCxnSpPr>
        <p:spPr>
          <a:xfrm>
            <a:off x="679269" y="3122023"/>
            <a:ext cx="10833462" cy="0"/>
          </a:xfrm>
          <a:prstGeom prst="line">
            <a:avLst/>
          </a:prstGeom>
          <a:ln w="41275">
            <a:solidFill>
              <a:srgbClr val="FFC000">
                <a:alpha val="68000"/>
              </a:srgbClr>
            </a:solidFill>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44C55ECE-83BE-4CDC-6665-59101240305E}"/>
              </a:ext>
            </a:extLst>
          </p:cNvPr>
          <p:cNvCxnSpPr/>
          <p:nvPr/>
        </p:nvCxnSpPr>
        <p:spPr>
          <a:xfrm>
            <a:off x="838200" y="3931920"/>
            <a:ext cx="10674531" cy="0"/>
          </a:xfrm>
          <a:prstGeom prst="line">
            <a:avLst/>
          </a:prstGeom>
          <a:ln w="3175">
            <a:solidFill>
              <a:schemeClr val="bg2">
                <a:lumMod val="75000"/>
                <a:alpha val="74000"/>
              </a:schemeClr>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BA5940D2-F40F-EBCB-3925-9B2E449AEC5B}"/>
              </a:ext>
            </a:extLst>
          </p:cNvPr>
          <p:cNvCxnSpPr/>
          <p:nvPr/>
        </p:nvCxnSpPr>
        <p:spPr>
          <a:xfrm>
            <a:off x="838200" y="4868091"/>
            <a:ext cx="10674531" cy="0"/>
          </a:xfrm>
          <a:prstGeom prst="line">
            <a:avLst/>
          </a:prstGeom>
          <a:ln w="3175">
            <a:solidFill>
              <a:srgbClr val="D9DDE6">
                <a:alpha val="59000"/>
              </a:srgbClr>
            </a:solidFill>
          </a:ln>
        </p:spPr>
        <p:style>
          <a:lnRef idx="2">
            <a:schemeClr val="accent1"/>
          </a:lnRef>
          <a:fillRef idx="0">
            <a:schemeClr val="accent1"/>
          </a:fillRef>
          <a:effectRef idx="1">
            <a:schemeClr val="accent1"/>
          </a:effectRef>
          <a:fontRef idx="minor">
            <a:schemeClr val="tx1"/>
          </a:fontRef>
        </p:style>
      </p:cxnSp>
      <p:sp>
        <p:nvSpPr>
          <p:cNvPr id="15" name="ZoneTexte 14">
            <a:extLst>
              <a:ext uri="{FF2B5EF4-FFF2-40B4-BE49-F238E27FC236}">
                <a16:creationId xmlns:a16="http://schemas.microsoft.com/office/drawing/2014/main" id="{C49231D7-1086-E8FF-8F5E-6D6D87B1BD55}"/>
              </a:ext>
            </a:extLst>
          </p:cNvPr>
          <p:cNvSpPr txBox="1"/>
          <p:nvPr/>
        </p:nvSpPr>
        <p:spPr>
          <a:xfrm>
            <a:off x="3274422" y="4154020"/>
            <a:ext cx="1933303" cy="369332"/>
          </a:xfrm>
          <a:prstGeom prst="rect">
            <a:avLst/>
          </a:prstGeom>
          <a:noFill/>
        </p:spPr>
        <p:txBody>
          <a:bodyPr wrap="square" rtlCol="0">
            <a:spAutoFit/>
          </a:bodyPr>
          <a:lstStyle/>
          <a:p>
            <a:r>
              <a:rPr lang="fr-FR" dirty="0">
                <a:solidFill>
                  <a:srgbClr val="D9DDE6"/>
                </a:solidFill>
              </a:rPr>
              <a:t>53,670</a:t>
            </a:r>
            <a:endParaRPr lang="en-US" dirty="0">
              <a:solidFill>
                <a:srgbClr val="D9DDE6"/>
              </a:solidFill>
            </a:endParaRPr>
          </a:p>
        </p:txBody>
      </p:sp>
      <p:sp>
        <p:nvSpPr>
          <p:cNvPr id="16" name="ZoneTexte 15">
            <a:extLst>
              <a:ext uri="{FF2B5EF4-FFF2-40B4-BE49-F238E27FC236}">
                <a16:creationId xmlns:a16="http://schemas.microsoft.com/office/drawing/2014/main" id="{89A4D9F5-C18E-7DC7-8BF8-69218E580F26}"/>
              </a:ext>
            </a:extLst>
          </p:cNvPr>
          <p:cNvSpPr txBox="1"/>
          <p:nvPr/>
        </p:nvSpPr>
        <p:spPr>
          <a:xfrm>
            <a:off x="977536" y="4178612"/>
            <a:ext cx="1933303" cy="369332"/>
          </a:xfrm>
          <a:prstGeom prst="rect">
            <a:avLst/>
          </a:prstGeom>
          <a:noFill/>
        </p:spPr>
        <p:txBody>
          <a:bodyPr wrap="square" rtlCol="0">
            <a:spAutoFit/>
          </a:bodyPr>
          <a:lstStyle/>
          <a:p>
            <a:r>
              <a:rPr lang="fr-FR" dirty="0">
                <a:solidFill>
                  <a:srgbClr val="D9DDE6"/>
                </a:solidFill>
              </a:rPr>
              <a:t>Cuivre</a:t>
            </a:r>
            <a:endParaRPr lang="en-US" dirty="0">
              <a:solidFill>
                <a:srgbClr val="D9DDE6"/>
              </a:solidFill>
            </a:endParaRPr>
          </a:p>
        </p:txBody>
      </p:sp>
      <p:sp>
        <p:nvSpPr>
          <p:cNvPr id="17" name="ZoneTexte 16">
            <a:extLst>
              <a:ext uri="{FF2B5EF4-FFF2-40B4-BE49-F238E27FC236}">
                <a16:creationId xmlns:a16="http://schemas.microsoft.com/office/drawing/2014/main" id="{840BD06D-5BD4-A86F-71C4-5680DC5816E4}"/>
              </a:ext>
            </a:extLst>
          </p:cNvPr>
          <p:cNvSpPr txBox="1"/>
          <p:nvPr/>
        </p:nvSpPr>
        <p:spPr>
          <a:xfrm>
            <a:off x="999308" y="3220776"/>
            <a:ext cx="1933303" cy="369332"/>
          </a:xfrm>
          <a:prstGeom prst="rect">
            <a:avLst/>
          </a:prstGeom>
          <a:noFill/>
        </p:spPr>
        <p:txBody>
          <a:bodyPr wrap="square" rtlCol="0">
            <a:spAutoFit/>
          </a:bodyPr>
          <a:lstStyle/>
          <a:p>
            <a:r>
              <a:rPr lang="fr-FR" dirty="0">
                <a:solidFill>
                  <a:schemeClr val="bg2"/>
                </a:solidFill>
              </a:rPr>
              <a:t>Cobalt</a:t>
            </a:r>
            <a:endParaRPr lang="en-US" dirty="0">
              <a:solidFill>
                <a:schemeClr val="bg2"/>
              </a:solidFill>
            </a:endParaRPr>
          </a:p>
        </p:txBody>
      </p:sp>
      <p:sp>
        <p:nvSpPr>
          <p:cNvPr id="18" name="ZoneTexte 17">
            <a:extLst>
              <a:ext uri="{FF2B5EF4-FFF2-40B4-BE49-F238E27FC236}">
                <a16:creationId xmlns:a16="http://schemas.microsoft.com/office/drawing/2014/main" id="{7EE1BAB2-5C97-34D5-706C-F57D2129FB72}"/>
              </a:ext>
            </a:extLst>
          </p:cNvPr>
          <p:cNvSpPr txBox="1"/>
          <p:nvPr/>
        </p:nvSpPr>
        <p:spPr>
          <a:xfrm>
            <a:off x="3331028" y="3242157"/>
            <a:ext cx="1933303" cy="369332"/>
          </a:xfrm>
          <a:prstGeom prst="rect">
            <a:avLst/>
          </a:prstGeom>
          <a:noFill/>
        </p:spPr>
        <p:txBody>
          <a:bodyPr wrap="square" rtlCol="0">
            <a:spAutoFit/>
          </a:bodyPr>
          <a:lstStyle/>
          <a:p>
            <a:r>
              <a:rPr lang="fr-FR" dirty="0">
                <a:solidFill>
                  <a:schemeClr val="bg2"/>
                </a:solidFill>
              </a:rPr>
              <a:t>10,930</a:t>
            </a:r>
            <a:endParaRPr lang="en-US" dirty="0">
              <a:solidFill>
                <a:schemeClr val="bg2"/>
              </a:solidFill>
            </a:endParaRPr>
          </a:p>
        </p:txBody>
      </p:sp>
      <p:sp>
        <p:nvSpPr>
          <p:cNvPr id="19" name="ZoneTexte 18">
            <a:extLst>
              <a:ext uri="{FF2B5EF4-FFF2-40B4-BE49-F238E27FC236}">
                <a16:creationId xmlns:a16="http://schemas.microsoft.com/office/drawing/2014/main" id="{59BDD225-F5FE-6609-3189-9788E28A2454}"/>
              </a:ext>
            </a:extLst>
          </p:cNvPr>
          <p:cNvSpPr txBox="1"/>
          <p:nvPr/>
        </p:nvSpPr>
        <p:spPr>
          <a:xfrm>
            <a:off x="5865222" y="3267194"/>
            <a:ext cx="1933303" cy="369332"/>
          </a:xfrm>
          <a:prstGeom prst="rect">
            <a:avLst/>
          </a:prstGeom>
          <a:noFill/>
        </p:spPr>
        <p:txBody>
          <a:bodyPr wrap="square" rtlCol="0">
            <a:spAutoFit/>
          </a:bodyPr>
          <a:lstStyle/>
          <a:p>
            <a:r>
              <a:rPr lang="fr-FR" dirty="0">
                <a:solidFill>
                  <a:schemeClr val="bg2"/>
                </a:solidFill>
              </a:rPr>
              <a:t>Haut</a:t>
            </a:r>
            <a:endParaRPr lang="en-US" dirty="0">
              <a:solidFill>
                <a:schemeClr val="bg2"/>
              </a:solidFill>
            </a:endParaRPr>
          </a:p>
        </p:txBody>
      </p:sp>
      <p:sp>
        <p:nvSpPr>
          <p:cNvPr id="20" name="ZoneTexte 19">
            <a:extLst>
              <a:ext uri="{FF2B5EF4-FFF2-40B4-BE49-F238E27FC236}">
                <a16:creationId xmlns:a16="http://schemas.microsoft.com/office/drawing/2014/main" id="{708F25B0-23D2-3245-C453-B013430A4BDE}"/>
              </a:ext>
            </a:extLst>
          </p:cNvPr>
          <p:cNvSpPr txBox="1"/>
          <p:nvPr/>
        </p:nvSpPr>
        <p:spPr>
          <a:xfrm>
            <a:off x="9028611" y="3315897"/>
            <a:ext cx="1933303" cy="369332"/>
          </a:xfrm>
          <a:prstGeom prst="rect">
            <a:avLst/>
          </a:prstGeom>
          <a:noFill/>
        </p:spPr>
        <p:txBody>
          <a:bodyPr wrap="square" rtlCol="0">
            <a:spAutoFit/>
          </a:bodyPr>
          <a:lstStyle/>
          <a:p>
            <a:r>
              <a:rPr lang="fr-FR" b="1" dirty="0">
                <a:solidFill>
                  <a:srgbClr val="2A5038"/>
                </a:solidFill>
              </a:rPr>
              <a:t>Stable</a:t>
            </a:r>
            <a:endParaRPr lang="en-US" b="1" dirty="0">
              <a:solidFill>
                <a:srgbClr val="2A5038"/>
              </a:solidFill>
            </a:endParaRPr>
          </a:p>
        </p:txBody>
      </p:sp>
      <p:sp>
        <p:nvSpPr>
          <p:cNvPr id="21" name="ZoneTexte 20">
            <a:extLst>
              <a:ext uri="{FF2B5EF4-FFF2-40B4-BE49-F238E27FC236}">
                <a16:creationId xmlns:a16="http://schemas.microsoft.com/office/drawing/2014/main" id="{993C07C0-74EB-710B-130C-980624AEDB7F}"/>
              </a:ext>
            </a:extLst>
          </p:cNvPr>
          <p:cNvSpPr txBox="1"/>
          <p:nvPr/>
        </p:nvSpPr>
        <p:spPr>
          <a:xfrm>
            <a:off x="5995850" y="4106295"/>
            <a:ext cx="1933303" cy="369332"/>
          </a:xfrm>
          <a:prstGeom prst="rect">
            <a:avLst/>
          </a:prstGeom>
          <a:noFill/>
        </p:spPr>
        <p:txBody>
          <a:bodyPr wrap="square" rtlCol="0">
            <a:spAutoFit/>
          </a:bodyPr>
          <a:lstStyle/>
          <a:p>
            <a:r>
              <a:rPr lang="fr-FR" dirty="0">
                <a:solidFill>
                  <a:srgbClr val="D9DDE6"/>
                </a:solidFill>
              </a:rPr>
              <a:t>Moyen</a:t>
            </a:r>
            <a:endParaRPr lang="en-US" dirty="0">
              <a:solidFill>
                <a:srgbClr val="D9DDE6"/>
              </a:solidFill>
            </a:endParaRPr>
          </a:p>
        </p:txBody>
      </p:sp>
      <p:sp>
        <p:nvSpPr>
          <p:cNvPr id="22" name="ZoneTexte 21">
            <a:extLst>
              <a:ext uri="{FF2B5EF4-FFF2-40B4-BE49-F238E27FC236}">
                <a16:creationId xmlns:a16="http://schemas.microsoft.com/office/drawing/2014/main" id="{BC4CA119-1B3F-0962-5A02-ACEE6AC1B1D1}"/>
              </a:ext>
            </a:extLst>
          </p:cNvPr>
          <p:cNvSpPr txBox="1"/>
          <p:nvPr/>
        </p:nvSpPr>
        <p:spPr>
          <a:xfrm>
            <a:off x="9028610" y="4165833"/>
            <a:ext cx="1933303" cy="369332"/>
          </a:xfrm>
          <a:prstGeom prst="rect">
            <a:avLst/>
          </a:prstGeom>
          <a:noFill/>
        </p:spPr>
        <p:txBody>
          <a:bodyPr wrap="square" rtlCol="0">
            <a:spAutoFit/>
          </a:bodyPr>
          <a:lstStyle/>
          <a:p>
            <a:r>
              <a:rPr lang="fr-FR" dirty="0">
                <a:solidFill>
                  <a:srgbClr val="FFC000"/>
                </a:solidFill>
              </a:rPr>
              <a:t>En croissance</a:t>
            </a:r>
            <a:endParaRPr lang="en-US" dirty="0">
              <a:solidFill>
                <a:srgbClr val="FFC000"/>
              </a:solidFill>
            </a:endParaRPr>
          </a:p>
        </p:txBody>
      </p:sp>
      <p:cxnSp>
        <p:nvCxnSpPr>
          <p:cNvPr id="23" name="Connecteur droit 22">
            <a:extLst>
              <a:ext uri="{FF2B5EF4-FFF2-40B4-BE49-F238E27FC236}">
                <a16:creationId xmlns:a16="http://schemas.microsoft.com/office/drawing/2014/main" id="{6F9CFD10-0EE3-C520-1636-AE56CAAAD87E}"/>
              </a:ext>
            </a:extLst>
          </p:cNvPr>
          <p:cNvCxnSpPr>
            <a:cxnSpLocks/>
          </p:cNvCxnSpPr>
          <p:nvPr/>
        </p:nvCxnSpPr>
        <p:spPr>
          <a:xfrm>
            <a:off x="866502" y="457200"/>
            <a:ext cx="0" cy="914400"/>
          </a:xfrm>
          <a:prstGeom prst="line">
            <a:avLst/>
          </a:prstGeom>
          <a:ln w="63500">
            <a:solidFill>
              <a:srgbClr val="FFC000"/>
            </a:solidFill>
          </a:ln>
        </p:spPr>
        <p:style>
          <a:lnRef idx="3">
            <a:schemeClr val="accent1"/>
          </a:lnRef>
          <a:fillRef idx="0">
            <a:schemeClr val="accent1"/>
          </a:fillRef>
          <a:effectRef idx="2">
            <a:schemeClr val="accent1"/>
          </a:effectRef>
          <a:fontRef idx="minor">
            <a:schemeClr val="tx1"/>
          </a:fontRef>
        </p:style>
      </p:cxnSp>
      <p:sp>
        <p:nvSpPr>
          <p:cNvPr id="24" name="ZoneTexte 23">
            <a:extLst>
              <a:ext uri="{FF2B5EF4-FFF2-40B4-BE49-F238E27FC236}">
                <a16:creationId xmlns:a16="http://schemas.microsoft.com/office/drawing/2014/main" id="{F4CF8CC7-091B-A479-FE74-4DBCAC43EB71}"/>
              </a:ext>
            </a:extLst>
          </p:cNvPr>
          <p:cNvSpPr txBox="1"/>
          <p:nvPr/>
        </p:nvSpPr>
        <p:spPr>
          <a:xfrm>
            <a:off x="866502" y="5299447"/>
            <a:ext cx="10881360" cy="369332"/>
          </a:xfrm>
          <a:prstGeom prst="rect">
            <a:avLst/>
          </a:prstGeom>
          <a:noFill/>
        </p:spPr>
        <p:txBody>
          <a:bodyPr wrap="square" rtlCol="0">
            <a:spAutoFit/>
          </a:bodyPr>
          <a:lstStyle/>
          <a:p>
            <a:r>
              <a:rPr lang="fr-FR" dirty="0">
                <a:solidFill>
                  <a:schemeClr val="bg2"/>
                </a:solidFill>
              </a:rPr>
              <a:t>Le Cobalt continue de dominer nos exportations avec une demande mondiale croissante </a:t>
            </a:r>
            <a:endParaRPr lang="en-US" dirty="0">
              <a:solidFill>
                <a:schemeClr val="bg2"/>
              </a:solidFill>
            </a:endParaRPr>
          </a:p>
        </p:txBody>
      </p:sp>
    </p:spTree>
    <p:extLst>
      <p:ext uri="{BB962C8B-B14F-4D97-AF65-F5344CB8AC3E}">
        <p14:creationId xmlns:p14="http://schemas.microsoft.com/office/powerpoint/2010/main" val="461384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FFA2F84E-A5AC-F51D-38C0-9321F8ED8C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1843" y="1331842"/>
            <a:ext cx="9312966" cy="4731027"/>
          </a:xfrm>
        </p:spPr>
      </p:pic>
      <p:sp>
        <p:nvSpPr>
          <p:cNvPr id="7" name="ZoneTexte 6">
            <a:extLst>
              <a:ext uri="{FF2B5EF4-FFF2-40B4-BE49-F238E27FC236}">
                <a16:creationId xmlns:a16="http://schemas.microsoft.com/office/drawing/2014/main" id="{48950231-5C63-1583-25C7-94BC15DE9EF6}"/>
              </a:ext>
            </a:extLst>
          </p:cNvPr>
          <p:cNvSpPr txBox="1"/>
          <p:nvPr/>
        </p:nvSpPr>
        <p:spPr>
          <a:xfrm>
            <a:off x="1249846" y="425799"/>
            <a:ext cx="6097656" cy="769441"/>
          </a:xfrm>
          <a:prstGeom prst="rect">
            <a:avLst/>
          </a:prstGeom>
          <a:noFill/>
        </p:spPr>
        <p:txBody>
          <a:bodyPr wrap="square">
            <a:spAutoFit/>
          </a:bodyPr>
          <a:lstStyle/>
          <a:p>
            <a:r>
              <a:rPr lang="fr-FR" sz="4400" spc="300" dirty="0">
                <a:solidFill>
                  <a:srgbClr val="FFC000"/>
                </a:solidFill>
                <a:latin typeface="Bodoni MT" panose="02070603080606020203" pitchFamily="18" charset="0"/>
              </a:rPr>
              <a:t>IMAGE</a:t>
            </a:r>
            <a:endParaRPr lang="en-US" sz="4400" dirty="0"/>
          </a:p>
        </p:txBody>
      </p:sp>
      <p:cxnSp>
        <p:nvCxnSpPr>
          <p:cNvPr id="8" name="Connecteur droit 7">
            <a:extLst>
              <a:ext uri="{FF2B5EF4-FFF2-40B4-BE49-F238E27FC236}">
                <a16:creationId xmlns:a16="http://schemas.microsoft.com/office/drawing/2014/main" id="{C26E2AD1-CB11-0F05-720A-6A7DD5279839}"/>
              </a:ext>
            </a:extLst>
          </p:cNvPr>
          <p:cNvCxnSpPr>
            <a:cxnSpLocks/>
          </p:cNvCxnSpPr>
          <p:nvPr/>
        </p:nvCxnSpPr>
        <p:spPr>
          <a:xfrm>
            <a:off x="1035467" y="425799"/>
            <a:ext cx="0" cy="713073"/>
          </a:xfrm>
          <a:prstGeom prst="line">
            <a:avLst/>
          </a:prstGeom>
          <a:ln w="63500">
            <a:solidFill>
              <a:srgbClr val="FFC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97233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764908-2B3B-73C1-B875-F21551F23EEF}"/>
              </a:ext>
            </a:extLst>
          </p:cNvPr>
          <p:cNvSpPr>
            <a:spLocks noGrp="1"/>
          </p:cNvSpPr>
          <p:nvPr>
            <p:ph type="title"/>
          </p:nvPr>
        </p:nvSpPr>
        <p:spPr/>
        <p:txBody>
          <a:bodyPr/>
          <a:lstStyle/>
          <a:p>
            <a:r>
              <a:rPr lang="fr-FR" spc="300" dirty="0">
                <a:solidFill>
                  <a:srgbClr val="FFC000"/>
                </a:solidFill>
                <a:latin typeface="Bodoni MT" panose="02070603080606020203" pitchFamily="18" charset="0"/>
              </a:rPr>
              <a:t> PROBLEMATIQUE</a:t>
            </a:r>
            <a:endParaRPr lang="en-US" spc="300" dirty="0">
              <a:solidFill>
                <a:srgbClr val="FFC000"/>
              </a:solidFill>
              <a:latin typeface="Bodoni MT" panose="02070603080606020203" pitchFamily="18" charset="0"/>
            </a:endParaRPr>
          </a:p>
        </p:txBody>
      </p:sp>
      <p:sp>
        <p:nvSpPr>
          <p:cNvPr id="3" name="Espace réservé du contenu 2">
            <a:extLst>
              <a:ext uri="{FF2B5EF4-FFF2-40B4-BE49-F238E27FC236}">
                <a16:creationId xmlns:a16="http://schemas.microsoft.com/office/drawing/2014/main" id="{1688333E-3CF7-3A84-1103-5194B9D86D81}"/>
              </a:ext>
            </a:extLst>
          </p:cNvPr>
          <p:cNvSpPr>
            <a:spLocks noGrp="1"/>
          </p:cNvSpPr>
          <p:nvPr>
            <p:ph idx="1"/>
          </p:nvPr>
        </p:nvSpPr>
        <p:spPr/>
        <p:txBody>
          <a:bodyPr>
            <a:normAutofit/>
          </a:bodyPr>
          <a:lstStyle/>
          <a:p>
            <a:r>
              <a:rPr lang="fr-FR" sz="2400" dirty="0">
                <a:solidFill>
                  <a:srgbClr val="D9DDE6"/>
                </a:solidFill>
                <a:latin typeface="Goudy Old Style" panose="02020502050305020303" pitchFamily="18" charset="0"/>
              </a:rPr>
              <a:t>Ils nous a été demandé d’analyser l’évolution de l’extraction sur le six dernier mois. Cependant, lors de la phase préparatoire, nous avons constaté que les données mises à notre disposition ne couvrent que deux mois de la période allant du 01/01/2024 au 09/02/2024. </a:t>
            </a:r>
          </a:p>
          <a:p>
            <a:pPr marL="0" indent="0">
              <a:buNone/>
            </a:pPr>
            <a:r>
              <a:rPr lang="fr-FR" sz="2400" dirty="0">
                <a:solidFill>
                  <a:srgbClr val="D9DDE6"/>
                </a:solidFill>
                <a:latin typeface="Goudy Old Style" panose="02020502050305020303" pitchFamily="18" charset="0"/>
              </a:rPr>
              <a:t>Par conséquent, comme vous pouvez le constater sur notre courbe d’évolution, seules les données de ces deux mois sont représentées. Nous ne disposons pas de données suffisantes pour réaliser une analyse sur l’ensemble des six derniers mois demandés.</a:t>
            </a:r>
          </a:p>
        </p:txBody>
      </p:sp>
      <p:cxnSp>
        <p:nvCxnSpPr>
          <p:cNvPr id="4" name="Connecteur droit 3">
            <a:extLst>
              <a:ext uri="{FF2B5EF4-FFF2-40B4-BE49-F238E27FC236}">
                <a16:creationId xmlns:a16="http://schemas.microsoft.com/office/drawing/2014/main" id="{0ABC65CC-742A-ECED-2F7F-C060C6512F2E}"/>
              </a:ext>
            </a:extLst>
          </p:cNvPr>
          <p:cNvCxnSpPr>
            <a:cxnSpLocks/>
          </p:cNvCxnSpPr>
          <p:nvPr/>
        </p:nvCxnSpPr>
        <p:spPr>
          <a:xfrm>
            <a:off x="866502" y="457200"/>
            <a:ext cx="0" cy="914400"/>
          </a:xfrm>
          <a:prstGeom prst="line">
            <a:avLst/>
          </a:prstGeom>
          <a:ln w="63500">
            <a:solidFill>
              <a:srgbClr val="FFC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7591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87443D8-53AD-EE4C-9D15-2E5D2E6F768C}"/>
              </a:ext>
            </a:extLst>
          </p:cNvPr>
          <p:cNvSpPr>
            <a:spLocks noGrp="1"/>
          </p:cNvSpPr>
          <p:nvPr>
            <p:ph idx="1"/>
          </p:nvPr>
        </p:nvSpPr>
        <p:spPr>
          <a:xfrm>
            <a:off x="838200" y="606287"/>
            <a:ext cx="10515600" cy="5570676"/>
          </a:xfrm>
        </p:spPr>
        <p:txBody>
          <a:bodyPr/>
          <a:lstStyle/>
          <a:p>
            <a:r>
              <a:rPr lang="fr-FR" sz="2400" dirty="0">
                <a:solidFill>
                  <a:srgbClr val="D9DDE6"/>
                </a:solidFill>
                <a:latin typeface="Goudy Old Style" panose="02020502050305020303" pitchFamily="18" charset="0"/>
              </a:rPr>
              <a:t>A titre de recommandation, nous suggérons à l’équipe chargée de la collecte des données sur le terrain de veiller à recueillir l’ensemble des données disponibles. Cela permettra de disposer d’une vue plus complète et plus représentative des opérations, facilitant ainsi les analyse et la prise de décision</a:t>
            </a:r>
            <a:endParaRPr lang="en-US" sz="2400" dirty="0">
              <a:solidFill>
                <a:srgbClr val="D9DDE6"/>
              </a:solidFill>
              <a:latin typeface="Goudy Old Style" panose="02020502050305020303" pitchFamily="18" charset="0"/>
            </a:endParaRPr>
          </a:p>
          <a:p>
            <a:pPr marL="0" indent="0">
              <a:buNone/>
            </a:pPr>
            <a:endParaRPr lang="en-US" dirty="0"/>
          </a:p>
        </p:txBody>
      </p:sp>
    </p:spTree>
    <p:extLst>
      <p:ext uri="{BB962C8B-B14F-4D97-AF65-F5344CB8AC3E}">
        <p14:creationId xmlns:p14="http://schemas.microsoft.com/office/powerpoint/2010/main" val="1747287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1961567-B562-7B4D-15EA-8643DBA84A17}"/>
              </a:ext>
            </a:extLst>
          </p:cNvPr>
          <p:cNvSpPr>
            <a:spLocks noGrp="1"/>
          </p:cNvSpPr>
          <p:nvPr>
            <p:ph idx="1"/>
          </p:nvPr>
        </p:nvSpPr>
        <p:spPr>
          <a:xfrm>
            <a:off x="838200" y="1789611"/>
            <a:ext cx="10515600" cy="4387351"/>
          </a:xfrm>
        </p:spPr>
        <p:txBody>
          <a:bodyPr>
            <a:normAutofit/>
          </a:bodyPr>
          <a:lstStyle/>
          <a:p>
            <a:pPr marL="0" indent="0" algn="ctr">
              <a:buNone/>
            </a:pPr>
            <a:r>
              <a:rPr lang="fr-FR" sz="4400" i="1" dirty="0">
                <a:solidFill>
                  <a:srgbClr val="D9DDE6"/>
                </a:solidFill>
                <a:latin typeface="Bodoni MT" panose="02070603080606020203" pitchFamily="18" charset="0"/>
              </a:rPr>
              <a:t>« Notre objectif n’est pas seulement l’extraction, lais la création d’une valeur durable pour la RDC tout en devant le partenaire privilégié la transaction énergétique mondiale. »</a:t>
            </a:r>
          </a:p>
          <a:p>
            <a:pPr marL="0" indent="0" algn="ctr">
              <a:buNone/>
            </a:pPr>
            <a:endParaRPr lang="en-US" i="1" dirty="0">
              <a:solidFill>
                <a:srgbClr val="D9DDE6"/>
              </a:solidFill>
              <a:latin typeface="Bodoni MT" panose="02070603080606020203" pitchFamily="18" charset="0"/>
            </a:endParaRPr>
          </a:p>
        </p:txBody>
      </p:sp>
      <p:pic>
        <p:nvPicPr>
          <p:cNvPr id="2052" name="Picture 4" descr="Quote icon">
            <a:hlinkClick r:id="rId2"/>
            <a:extLst>
              <a:ext uri="{FF2B5EF4-FFF2-40B4-BE49-F238E27FC236}">
                <a16:creationId xmlns:a16="http://schemas.microsoft.com/office/drawing/2014/main" id="{2EEB59CF-A1A0-CC82-D906-7CB74E5CE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171" y="339635"/>
            <a:ext cx="1175657" cy="1175657"/>
          </a:xfrm>
          <a:prstGeom prst="rect">
            <a:avLst/>
          </a:prstGeom>
          <a:solidFill>
            <a:srgbClr val="FFC000"/>
          </a:solidFill>
        </p:spPr>
      </p:pic>
    </p:spTree>
    <p:extLst>
      <p:ext uri="{BB962C8B-B14F-4D97-AF65-F5344CB8AC3E}">
        <p14:creationId xmlns:p14="http://schemas.microsoft.com/office/powerpoint/2010/main" val="3192776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236CB5-D151-17FD-BEA2-8FFC20E0B0B6}"/>
              </a:ext>
            </a:extLst>
          </p:cNvPr>
          <p:cNvSpPr>
            <a:spLocks noGrp="1"/>
          </p:cNvSpPr>
          <p:nvPr>
            <p:ph idx="1"/>
          </p:nvPr>
        </p:nvSpPr>
        <p:spPr>
          <a:xfrm>
            <a:off x="838200" y="2395329"/>
            <a:ext cx="10515600" cy="3781633"/>
          </a:xfrm>
        </p:spPr>
        <p:txBody>
          <a:bodyPr>
            <a:normAutofit/>
          </a:bodyPr>
          <a:lstStyle/>
          <a:p>
            <a:pPr marL="0" indent="0" algn="ctr">
              <a:buNone/>
            </a:pPr>
            <a:r>
              <a:rPr lang="fr-FR" sz="4400" b="1" dirty="0">
                <a:solidFill>
                  <a:srgbClr val="D9DDE6"/>
                </a:solidFill>
                <a:latin typeface="Bodoni MT Black" panose="02070A03080606020203" pitchFamily="18" charset="0"/>
              </a:rPr>
              <a:t>MERCI POUR VOTRE ATTENTION </a:t>
            </a:r>
            <a:endParaRPr lang="en-US" sz="4400" b="1" dirty="0">
              <a:solidFill>
                <a:srgbClr val="D9DDE6"/>
              </a:solidFill>
              <a:latin typeface="Bodoni MT Black" panose="02070A03080606020203" pitchFamily="18" charset="0"/>
            </a:endParaRPr>
          </a:p>
        </p:txBody>
      </p:sp>
    </p:spTree>
    <p:extLst>
      <p:ext uri="{BB962C8B-B14F-4D97-AF65-F5344CB8AC3E}">
        <p14:creationId xmlns:p14="http://schemas.microsoft.com/office/powerpoint/2010/main" val="278431433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1069</TotalTime>
  <Words>337</Words>
  <Application>Microsoft Office PowerPoint</Application>
  <PresentationFormat>Grand écran</PresentationFormat>
  <Paragraphs>58</Paragraphs>
  <Slides>11</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11</vt:i4>
      </vt:variant>
    </vt:vector>
  </HeadingPairs>
  <TitlesOfParts>
    <vt:vector size="19" baseType="lpstr">
      <vt:lpstr>Aptos</vt:lpstr>
      <vt:lpstr>Aptos Display</vt:lpstr>
      <vt:lpstr>Arial</vt:lpstr>
      <vt:lpstr>Bernard MT Condensed</vt:lpstr>
      <vt:lpstr>Bodoni MT</vt:lpstr>
      <vt:lpstr>Bodoni MT Black</vt:lpstr>
      <vt:lpstr>Goudy Old Style</vt:lpstr>
      <vt:lpstr>Thème Office</vt:lpstr>
      <vt:lpstr>CONGO RESOURCE GOLD</vt:lpstr>
      <vt:lpstr>RESUME EXECUTIF</vt:lpstr>
      <vt:lpstr>  PERFORMANCE TRIMESTRIELLE</vt:lpstr>
      <vt:lpstr>DISTRIBUTION DES VOLUMES PAR SITE</vt:lpstr>
      <vt:lpstr>ZOOM OPERATIONNEL : KAMATO</vt:lpstr>
      <vt:lpstr>  REPARTION PAR TYPE DE MINERAI</vt:lpstr>
      <vt:lpstr>Présentation PowerPoint</vt:lpstr>
      <vt:lpstr> PROBLEMATIQUE</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 ilunga</dc:creator>
  <cp:lastModifiedBy>Dan ilunga</cp:lastModifiedBy>
  <cp:revision>5</cp:revision>
  <dcterms:created xsi:type="dcterms:W3CDTF">2026-06-08T18:16:47Z</dcterms:created>
  <dcterms:modified xsi:type="dcterms:W3CDTF">2026-06-09T12:06:31Z</dcterms:modified>
</cp:coreProperties>
</file>